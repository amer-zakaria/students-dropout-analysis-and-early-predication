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961" autoAdjust="0"/>
    <p:restoredTop sz="94660"/>
  </p:normalViewPr>
  <p:slideViewPr>
    <p:cSldViewPr snapToGrid="0">
      <p:cViewPr varScale="1">
        <p:scale>
          <a:sx n="54" d="100"/>
          <a:sy n="54" d="100"/>
        </p:scale>
        <p:origin x="67" y="8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5/4/2026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5/4/2026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4400" b="1" dirty="0"/>
              <a:t>Academic Performance Analysis and Early Prediction of Student Dropout</a:t>
            </a:r>
            <a:endParaRPr lang="en-US" sz="44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624544"/>
          </a:xfrm>
        </p:spPr>
        <p:txBody>
          <a:bodyPr>
            <a:normAutofit fontScale="85000" lnSpcReduction="20000"/>
          </a:bodyPr>
          <a:lstStyle/>
          <a:p>
            <a:r>
              <a:rPr lang="en-US" cap="none" dirty="0"/>
              <a:t>AMER ZAKARIA (amer_154532)</a:t>
            </a:r>
          </a:p>
          <a:p>
            <a:r>
              <a:rPr lang="en-US" dirty="0"/>
              <a:t>Coordinator: </a:t>
            </a:r>
            <a:r>
              <a:rPr lang="en-US" dirty="0" err="1"/>
              <a:t>doaa</a:t>
            </a:r>
            <a:r>
              <a:rPr lang="en-US" dirty="0"/>
              <a:t> Akram </a:t>
            </a:r>
            <a:r>
              <a:rPr lang="en-US" dirty="0" err="1"/>
              <a:t>kordab</a:t>
            </a:r>
            <a:endParaRPr lang="en-US" cap="none" dirty="0"/>
          </a:p>
          <a:p>
            <a:br>
              <a:rPr lang="en-US" dirty="0"/>
            </a:b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2400" dirty="0"/>
              <a:t>This project aims to understand and analyze students’ personal data that has been collected about them at the time of their enrollment in various courses in a Portuguese University, as well as their first and second semester information, which is present in the dataset. </a:t>
            </a:r>
            <a:br>
              <a:rPr lang="en-US" sz="2400" dirty="0"/>
            </a:br>
            <a:br>
              <a:rPr lang="en-US" sz="2400" dirty="0"/>
            </a:br>
            <a:r>
              <a:rPr lang="en-US" sz="2400" dirty="0"/>
              <a:t>Additionally, since the dataset also contains a student status (graduate, enrolled, and dropout) at the end of the normal duration of the course, enrolled means still studying at that time, so we could make a predictive model that predicts whether a student is going to drop out or not while he/she is still an undergraduate.</a:t>
            </a:r>
            <a:endParaRPr lang="en-US" sz="2400" i="1" dirty="0">
              <a:solidFill>
                <a:srgbClr val="FFFFFF"/>
              </a:solidFill>
            </a:endParaRP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A2A99-5E48-6D37-CABD-4AB50DC02E5B}"/>
              </a:ext>
            </a:extLst>
          </p:cNvPr>
          <p:cNvSpPr>
            <a:spLocks noGrp="1"/>
          </p:cNvSpPr>
          <p:nvPr>
            <p:ph type="title"/>
          </p:nvPr>
        </p:nvSpPr>
        <p:spPr/>
        <p:txBody>
          <a:bodyPr/>
          <a:lstStyle/>
          <a:p>
            <a:r>
              <a:rPr lang="en-US" dirty="0"/>
              <a:t>Project Phases</a:t>
            </a:r>
          </a:p>
        </p:txBody>
      </p:sp>
      <p:pic>
        <p:nvPicPr>
          <p:cNvPr id="5" name="Content Placeholder 4">
            <a:extLst>
              <a:ext uri="{FF2B5EF4-FFF2-40B4-BE49-F238E27FC236}">
                <a16:creationId xmlns:a16="http://schemas.microsoft.com/office/drawing/2014/main" id="{35ED53CA-E816-4AF5-971F-632B173045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2916294"/>
            <a:ext cx="10058400" cy="2079713"/>
          </a:xfrm>
          <a:prstGeom prst="rect">
            <a:avLst/>
          </a:prstGeom>
        </p:spPr>
      </p:pic>
    </p:spTree>
    <p:extLst>
      <p:ext uri="{BB962C8B-B14F-4D97-AF65-F5344CB8AC3E}">
        <p14:creationId xmlns:p14="http://schemas.microsoft.com/office/powerpoint/2010/main" val="376961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EDE9B-015D-F6AF-4ED3-DEFBE7163FBB}"/>
              </a:ext>
            </a:extLst>
          </p:cNvPr>
          <p:cNvSpPr>
            <a:spLocks noGrp="1"/>
          </p:cNvSpPr>
          <p:nvPr>
            <p:ph type="title"/>
          </p:nvPr>
        </p:nvSpPr>
        <p:spPr/>
        <p:txBody>
          <a:bodyPr>
            <a:normAutofit/>
          </a:bodyPr>
          <a:lstStyle/>
          <a:p>
            <a:r>
              <a:rPr lang="en-US" sz="4000" dirty="0"/>
              <a:t>Data Cleaning: Preparing the Dataset</a:t>
            </a:r>
          </a:p>
        </p:txBody>
      </p:sp>
      <p:sp>
        <p:nvSpPr>
          <p:cNvPr id="9" name="Title 1">
            <a:extLst>
              <a:ext uri="{FF2B5EF4-FFF2-40B4-BE49-F238E27FC236}">
                <a16:creationId xmlns:a16="http://schemas.microsoft.com/office/drawing/2014/main" id="{AFA8347E-FC81-10D5-BBDE-456CB1035E5D}"/>
              </a:ext>
            </a:extLst>
          </p:cNvPr>
          <p:cNvSpPr txBox="1">
            <a:spLocks/>
          </p:cNvSpPr>
          <p:nvPr/>
        </p:nvSpPr>
        <p:spPr>
          <a:xfrm>
            <a:off x="1097280" y="1886136"/>
            <a:ext cx="10058400" cy="389216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8000" i="0" kern="1200" spc="-50" baseline="0">
                <a:solidFill>
                  <a:schemeClr val="tx1">
                    <a:lumMod val="85000"/>
                    <a:lumOff val="15000"/>
                  </a:schemeClr>
                </a:solidFill>
                <a:latin typeface="+mj-lt"/>
                <a:ea typeface="+mj-ea"/>
                <a:cs typeface="+mj-cs"/>
              </a:defRPr>
            </a:lvl1pPr>
          </a:lstStyle>
          <a:p>
            <a:r>
              <a:rPr lang="en-US" sz="2400" dirty="0"/>
              <a:t>While the data is already cleaned from its source, I’ve done a couple of quick checks:</a:t>
            </a:r>
          </a:p>
          <a:p>
            <a:pPr marL="342900" indent="-342900">
              <a:buFontTx/>
              <a:buChar char="-"/>
            </a:pPr>
            <a:r>
              <a:rPr lang="en-US" sz="2400" dirty="0"/>
              <a:t>Checked null &amp; empty values</a:t>
            </a:r>
          </a:p>
          <a:p>
            <a:pPr marL="342900" indent="-342900">
              <a:buFontTx/>
              <a:buChar char="-"/>
            </a:pPr>
            <a:r>
              <a:rPr lang="en-US" sz="2400" dirty="0"/>
              <a:t>Checked for duplicates </a:t>
            </a:r>
          </a:p>
          <a:p>
            <a:pPr marL="342900" indent="-342900">
              <a:buFontTx/>
              <a:buChar char="-"/>
            </a:pPr>
            <a:r>
              <a:rPr lang="en-US" sz="2400" dirty="0"/>
              <a:t>Checked for inconsistency (Portuguese student and international at the same time)</a:t>
            </a:r>
          </a:p>
          <a:p>
            <a:pPr marL="800100" lvl="1" indent="-342900">
              <a:buFontTx/>
              <a:buChar char="-"/>
            </a:pPr>
            <a:endParaRPr lang="en-US" sz="100" dirty="0"/>
          </a:p>
        </p:txBody>
      </p:sp>
    </p:spTree>
    <p:extLst>
      <p:ext uri="{BB962C8B-B14F-4D97-AF65-F5344CB8AC3E}">
        <p14:creationId xmlns:p14="http://schemas.microsoft.com/office/powerpoint/2010/main" val="410564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057FD-FF6A-B162-66B2-BB7B05013C55}"/>
              </a:ext>
            </a:extLst>
          </p:cNvPr>
          <p:cNvSpPr>
            <a:spLocks noGrp="1"/>
          </p:cNvSpPr>
          <p:nvPr>
            <p:ph type="title"/>
          </p:nvPr>
        </p:nvSpPr>
        <p:spPr/>
        <p:txBody>
          <a:bodyPr/>
          <a:lstStyle/>
          <a:p>
            <a:r>
              <a:rPr lang="en-US" dirty="0"/>
              <a:t>Feature Engineering - Feature Selection – Categorical</a:t>
            </a:r>
          </a:p>
        </p:txBody>
      </p:sp>
      <p:pic>
        <p:nvPicPr>
          <p:cNvPr id="4" name="Picture 3">
            <a:extLst>
              <a:ext uri="{FF2B5EF4-FFF2-40B4-BE49-F238E27FC236}">
                <a16:creationId xmlns:a16="http://schemas.microsoft.com/office/drawing/2014/main" id="{3B565BF7-0801-C621-C325-91B7E766DD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2098622"/>
            <a:ext cx="4203503" cy="2522102"/>
          </a:xfrm>
          <a:prstGeom prst="rect">
            <a:avLst/>
          </a:prstGeom>
        </p:spPr>
      </p:pic>
      <p:pic>
        <p:nvPicPr>
          <p:cNvPr id="6" name="Picture 5">
            <a:extLst>
              <a:ext uri="{FF2B5EF4-FFF2-40B4-BE49-F238E27FC236}">
                <a16:creationId xmlns:a16="http://schemas.microsoft.com/office/drawing/2014/main" id="{E483EA8B-16D9-ECED-99F6-765DEDBDB3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2178" y="2098622"/>
            <a:ext cx="4203502" cy="2522101"/>
          </a:xfrm>
          <a:prstGeom prst="rect">
            <a:avLst/>
          </a:prstGeom>
        </p:spPr>
      </p:pic>
      <p:sp>
        <p:nvSpPr>
          <p:cNvPr id="17" name="Rectangle 4">
            <a:extLst>
              <a:ext uri="{FF2B5EF4-FFF2-40B4-BE49-F238E27FC236}">
                <a16:creationId xmlns:a16="http://schemas.microsoft.com/office/drawing/2014/main" id="{C9B98D43-A06A-E8B5-D1AF-F4F51FD80ACF}"/>
              </a:ext>
            </a:extLst>
          </p:cNvPr>
          <p:cNvSpPr>
            <a:spLocks noChangeArrowheads="1"/>
          </p:cNvSpPr>
          <p:nvPr/>
        </p:nvSpPr>
        <p:spPr bwMode="auto">
          <a:xfrm>
            <a:off x="1097280" y="4622045"/>
            <a:ext cx="420350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mj-lt"/>
              </a:rPr>
              <a:t>The dropout rates for international students don’t differ that much from those of local students, which makes me able to remove this feature.</a:t>
            </a:r>
          </a:p>
        </p:txBody>
      </p:sp>
      <p:sp>
        <p:nvSpPr>
          <p:cNvPr id="18" name="Rectangle 4">
            <a:extLst>
              <a:ext uri="{FF2B5EF4-FFF2-40B4-BE49-F238E27FC236}">
                <a16:creationId xmlns:a16="http://schemas.microsoft.com/office/drawing/2014/main" id="{2857B255-A4CB-295F-FDFD-5879BFC20E7D}"/>
              </a:ext>
            </a:extLst>
          </p:cNvPr>
          <p:cNvSpPr>
            <a:spLocks noChangeArrowheads="1"/>
          </p:cNvSpPr>
          <p:nvPr/>
        </p:nvSpPr>
        <p:spPr bwMode="auto">
          <a:xfrm>
            <a:off x="6952177" y="4622045"/>
            <a:ext cx="420350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dirty="0">
                <a:latin typeface="+mj-lt"/>
              </a:rPr>
              <a:t>In contrast, scholarships have a significant impact on the dropout rate. Those who had a scholarship are 25% more likely to either graduate or stay enrolled. </a:t>
            </a:r>
            <a:endParaRPr kumimoji="0" lang="en-US" altLang="en-US" sz="1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4058363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FB21-3660-3A65-937B-90F3A7BF8935}"/>
              </a:ext>
            </a:extLst>
          </p:cNvPr>
          <p:cNvSpPr>
            <a:spLocks noGrp="1"/>
          </p:cNvSpPr>
          <p:nvPr>
            <p:ph type="title"/>
          </p:nvPr>
        </p:nvSpPr>
        <p:spPr/>
        <p:txBody>
          <a:bodyPr/>
          <a:lstStyle/>
          <a:p>
            <a:r>
              <a:rPr lang="en-US" dirty="0"/>
              <a:t>Feature Engineering - Feature Selection – Numerical</a:t>
            </a:r>
          </a:p>
        </p:txBody>
      </p:sp>
      <p:pic>
        <p:nvPicPr>
          <p:cNvPr id="4" name="Picture 3">
            <a:extLst>
              <a:ext uri="{FF2B5EF4-FFF2-40B4-BE49-F238E27FC236}">
                <a16:creationId xmlns:a16="http://schemas.microsoft.com/office/drawing/2014/main" id="{D464545D-2566-7124-154B-E519BB454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8346" y="2208363"/>
            <a:ext cx="2217334" cy="3695556"/>
          </a:xfrm>
          <a:prstGeom prst="rect">
            <a:avLst/>
          </a:prstGeom>
        </p:spPr>
      </p:pic>
      <p:sp>
        <p:nvSpPr>
          <p:cNvPr id="5" name="Rectangle 4">
            <a:extLst>
              <a:ext uri="{FF2B5EF4-FFF2-40B4-BE49-F238E27FC236}">
                <a16:creationId xmlns:a16="http://schemas.microsoft.com/office/drawing/2014/main" id="{0ADBD409-7C4C-451D-F925-ED52CDCA3040}"/>
              </a:ext>
            </a:extLst>
          </p:cNvPr>
          <p:cNvSpPr>
            <a:spLocks noChangeArrowheads="1"/>
          </p:cNvSpPr>
          <p:nvPr/>
        </p:nvSpPr>
        <p:spPr bwMode="auto">
          <a:xfrm>
            <a:off x="1097280" y="2486483"/>
            <a:ext cx="749046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dirty="0">
                <a:latin typeface="+mj-lt"/>
              </a:rPr>
              <a:t>I’ve done ordinal encoding on the Target feature to become named “success”:</a:t>
            </a:r>
            <a:br>
              <a:rPr lang="en-US" altLang="en-US" dirty="0">
                <a:latin typeface="+mj-lt"/>
              </a:rPr>
            </a:br>
            <a:r>
              <a:rPr lang="en-US" altLang="en-US" dirty="0">
                <a:latin typeface="+mj-lt"/>
              </a:rPr>
              <a:t>0 -&gt; Dropped out</a:t>
            </a:r>
          </a:p>
          <a:p>
            <a:pPr lvl="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mj-lt"/>
              </a:rPr>
              <a:t>1-</a:t>
            </a:r>
            <a:r>
              <a:rPr lang="en-US" altLang="en-US" dirty="0">
                <a:latin typeface="+mj-lt"/>
              </a:rPr>
              <a:t>&gt; Still enrolled </a:t>
            </a:r>
          </a:p>
          <a:p>
            <a:pPr lvl="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mj-lt"/>
              </a:rPr>
              <a:t>2 -&gt; Graduated </a:t>
            </a:r>
          </a:p>
          <a:p>
            <a:pPr lvl="0" eaLnBrk="0" fontAlgn="base" hangingPunct="0">
              <a:spcBef>
                <a:spcPct val="0"/>
              </a:spcBef>
              <a:spcAft>
                <a:spcPct val="0"/>
              </a:spcAft>
            </a:pPr>
            <a:endParaRPr lang="en-US" altLang="en-US" dirty="0">
              <a:latin typeface="+mj-lt"/>
            </a:endParaRPr>
          </a:p>
          <a:p>
            <a:pPr lvl="0" eaLnBrk="0" fontAlgn="base" hangingPunct="0">
              <a:spcBef>
                <a:spcPct val="0"/>
              </a:spcBef>
              <a:spcAft>
                <a:spcPct val="0"/>
              </a:spcAft>
            </a:pPr>
            <a:r>
              <a:rPr lang="en-US" altLang="en-US" dirty="0">
                <a:latin typeface="+mj-lt"/>
              </a:rPr>
              <a:t>And then correlated the “success” feature with the numerical features in my dataset, and found that only 7 features had a noticeable relationship with (Approximately 25% or more, negative or positive relationships), which I would keep for the training phase</a:t>
            </a:r>
          </a:p>
        </p:txBody>
      </p:sp>
    </p:spTree>
    <p:extLst>
      <p:ext uri="{BB962C8B-B14F-4D97-AF65-F5344CB8AC3E}">
        <p14:creationId xmlns:p14="http://schemas.microsoft.com/office/powerpoint/2010/main" val="4109745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A98B-7880-EC6E-A40B-BE70169B9421}"/>
              </a:ext>
            </a:extLst>
          </p:cNvPr>
          <p:cNvSpPr>
            <a:spLocks noGrp="1"/>
          </p:cNvSpPr>
          <p:nvPr>
            <p:ph type="title"/>
          </p:nvPr>
        </p:nvSpPr>
        <p:spPr/>
        <p:txBody>
          <a:bodyPr/>
          <a:lstStyle/>
          <a:p>
            <a:r>
              <a:rPr lang="en-US" dirty="0"/>
              <a:t>Feature Engineering - Feature Reduction</a:t>
            </a:r>
          </a:p>
        </p:txBody>
      </p:sp>
      <p:graphicFrame>
        <p:nvGraphicFramePr>
          <p:cNvPr id="4" name="Table 3">
            <a:extLst>
              <a:ext uri="{FF2B5EF4-FFF2-40B4-BE49-F238E27FC236}">
                <a16:creationId xmlns:a16="http://schemas.microsoft.com/office/drawing/2014/main" id="{8EC64D21-0DF8-51D1-E90B-350D3A86424C}"/>
              </a:ext>
            </a:extLst>
          </p:cNvPr>
          <p:cNvGraphicFramePr>
            <a:graphicFrameLocks noGrp="1"/>
          </p:cNvGraphicFramePr>
          <p:nvPr>
            <p:extLst>
              <p:ext uri="{D42A27DB-BD31-4B8C-83A1-F6EECF244321}">
                <p14:modId xmlns:p14="http://schemas.microsoft.com/office/powerpoint/2010/main" val="619121524"/>
              </p:ext>
            </p:extLst>
          </p:nvPr>
        </p:nvGraphicFramePr>
        <p:xfrm>
          <a:off x="1097280" y="2228850"/>
          <a:ext cx="10058400" cy="2157414"/>
        </p:xfrm>
        <a:graphic>
          <a:graphicData uri="http://schemas.openxmlformats.org/drawingml/2006/table">
            <a:tbl>
              <a:tblPr rtl="1" firstRow="1" firstCol="1" bandRow="1">
                <a:tableStyleId>{5C22544A-7EE6-4342-B048-85BDC9FD1C3A}</a:tableStyleId>
              </a:tblPr>
              <a:tblGrid>
                <a:gridCol w="3876568">
                  <a:extLst>
                    <a:ext uri="{9D8B030D-6E8A-4147-A177-3AD203B41FA5}">
                      <a16:colId xmlns:a16="http://schemas.microsoft.com/office/drawing/2014/main" val="336579414"/>
                    </a:ext>
                  </a:extLst>
                </a:gridCol>
                <a:gridCol w="6181832">
                  <a:extLst>
                    <a:ext uri="{9D8B030D-6E8A-4147-A177-3AD203B41FA5}">
                      <a16:colId xmlns:a16="http://schemas.microsoft.com/office/drawing/2014/main" val="1815754335"/>
                    </a:ext>
                  </a:extLst>
                </a:gridCol>
              </a:tblGrid>
              <a:tr h="308202">
                <a:tc>
                  <a:txBody>
                    <a:bodyPr/>
                    <a:lstStyle/>
                    <a:p>
                      <a:pPr marL="0" marR="0" rtl="0">
                        <a:lnSpc>
                          <a:spcPct val="115000"/>
                        </a:lnSpc>
                        <a:spcAft>
                          <a:spcPts val="800"/>
                        </a:spcAft>
                        <a:buNone/>
                      </a:pPr>
                      <a:r>
                        <a:rPr lang="en-US" sz="1100" kern="0">
                          <a:effectLst/>
                        </a:rPr>
                        <a:t>Feature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a:effectLst/>
                        </a:rPr>
                        <a:t>Spearman Correlation (1st vs 2nd)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658134634"/>
                  </a:ext>
                </a:extLst>
              </a:tr>
              <a:tr h="308202">
                <a:tc>
                  <a:txBody>
                    <a:bodyPr/>
                    <a:lstStyle/>
                    <a:p>
                      <a:pPr marL="0" marR="0" rtl="0">
                        <a:lnSpc>
                          <a:spcPct val="115000"/>
                        </a:lnSpc>
                        <a:spcAft>
                          <a:spcPts val="800"/>
                        </a:spcAft>
                        <a:buNone/>
                      </a:pPr>
                      <a:r>
                        <a:rPr lang="en-US" sz="1100" kern="0">
                          <a:effectLst/>
                        </a:rPr>
                        <a:t>(credited)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a:effectLst/>
                        </a:rPr>
                        <a:t>0.91</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643414072"/>
                  </a:ext>
                </a:extLst>
              </a:tr>
              <a:tr h="308202">
                <a:tc>
                  <a:txBody>
                    <a:bodyPr/>
                    <a:lstStyle/>
                    <a:p>
                      <a:pPr marL="0" marR="0" rtl="0">
                        <a:lnSpc>
                          <a:spcPct val="115000"/>
                        </a:lnSpc>
                        <a:spcAft>
                          <a:spcPts val="800"/>
                        </a:spcAft>
                        <a:buNone/>
                      </a:pPr>
                      <a:r>
                        <a:rPr lang="en-US" sz="1100" kern="0">
                          <a:effectLst/>
                        </a:rPr>
                        <a:t>(enrolled)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a:effectLst/>
                        </a:rPr>
                        <a:t>0.96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89855370"/>
                  </a:ext>
                </a:extLst>
              </a:tr>
              <a:tr h="308202">
                <a:tc>
                  <a:txBody>
                    <a:bodyPr/>
                    <a:lstStyle/>
                    <a:p>
                      <a:pPr marL="0" marR="0" rtl="0">
                        <a:lnSpc>
                          <a:spcPct val="115000"/>
                        </a:lnSpc>
                        <a:spcAft>
                          <a:spcPts val="800"/>
                        </a:spcAft>
                        <a:buNone/>
                      </a:pPr>
                      <a:r>
                        <a:rPr lang="en-US" sz="1100" kern="0">
                          <a:effectLst/>
                        </a:rPr>
                        <a:t>(evaluations)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a:effectLst/>
                        </a:rPr>
                        <a:t>0.69</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438721872"/>
                  </a:ext>
                </a:extLst>
              </a:tr>
              <a:tr h="308202">
                <a:tc>
                  <a:txBody>
                    <a:bodyPr/>
                    <a:lstStyle/>
                    <a:p>
                      <a:pPr marL="0" marR="0" rtl="0">
                        <a:lnSpc>
                          <a:spcPct val="115000"/>
                        </a:lnSpc>
                        <a:spcAft>
                          <a:spcPts val="800"/>
                        </a:spcAft>
                        <a:buNone/>
                      </a:pPr>
                      <a:r>
                        <a:rPr lang="en-US" sz="1100" kern="0">
                          <a:effectLst/>
                        </a:rPr>
                        <a:t>(approved)</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a:effectLst/>
                        </a:rPr>
                        <a:t>0.89</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879269664"/>
                  </a:ext>
                </a:extLst>
              </a:tr>
              <a:tr h="308202">
                <a:tc>
                  <a:txBody>
                    <a:bodyPr/>
                    <a:lstStyle/>
                    <a:p>
                      <a:pPr marL="0" marR="0" rtl="0">
                        <a:lnSpc>
                          <a:spcPct val="115000"/>
                        </a:lnSpc>
                        <a:spcAft>
                          <a:spcPts val="800"/>
                        </a:spcAft>
                        <a:buNone/>
                      </a:pPr>
                      <a:r>
                        <a:rPr lang="en-US" sz="1100" kern="0">
                          <a:effectLst/>
                        </a:rPr>
                        <a:t>(grade)</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a:effectLst/>
                        </a:rPr>
                        <a:t>0.76</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28295808"/>
                  </a:ext>
                </a:extLst>
              </a:tr>
              <a:tr h="308202">
                <a:tc>
                  <a:txBody>
                    <a:bodyPr/>
                    <a:lstStyle/>
                    <a:p>
                      <a:pPr marL="0" marR="0" rtl="0">
                        <a:lnSpc>
                          <a:spcPct val="115000"/>
                        </a:lnSpc>
                        <a:spcAft>
                          <a:spcPts val="800"/>
                        </a:spcAft>
                        <a:buNone/>
                      </a:pPr>
                      <a:r>
                        <a:rPr lang="en-US" sz="1100" kern="0">
                          <a:effectLst/>
                        </a:rPr>
                        <a:t>(without evaluations)</a:t>
                      </a:r>
                      <a:endParaRPr lang="en-US" sz="12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rtl="0">
                        <a:lnSpc>
                          <a:spcPct val="115000"/>
                        </a:lnSpc>
                        <a:spcAft>
                          <a:spcPts val="800"/>
                        </a:spcAft>
                        <a:buNone/>
                      </a:pPr>
                      <a:r>
                        <a:rPr lang="en-US" sz="1100" kern="0" dirty="0">
                          <a:effectLst/>
                        </a:rPr>
                        <a:t>0.38</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07311433"/>
                  </a:ext>
                </a:extLst>
              </a:tr>
            </a:tbl>
          </a:graphicData>
        </a:graphic>
      </p:graphicFrame>
      <p:sp>
        <p:nvSpPr>
          <p:cNvPr id="5" name="TextBox 4">
            <a:extLst>
              <a:ext uri="{FF2B5EF4-FFF2-40B4-BE49-F238E27FC236}">
                <a16:creationId xmlns:a16="http://schemas.microsoft.com/office/drawing/2014/main" id="{8A332BC7-3ED0-C72B-0EEC-77E904EA9576}"/>
              </a:ext>
            </a:extLst>
          </p:cNvPr>
          <p:cNvSpPr txBox="1"/>
          <p:nvPr/>
        </p:nvSpPr>
        <p:spPr>
          <a:xfrm>
            <a:off x="1097280" y="4877754"/>
            <a:ext cx="10058400" cy="369332"/>
          </a:xfrm>
          <a:prstGeom prst="rect">
            <a:avLst/>
          </a:prstGeom>
          <a:noFill/>
        </p:spPr>
        <p:txBody>
          <a:bodyPr wrap="square" rtlCol="0">
            <a:spAutoFit/>
          </a:bodyPr>
          <a:lstStyle/>
          <a:p>
            <a:r>
              <a:rPr lang="en-US" dirty="0"/>
              <a:t>I kept only the Average of the semesters 1 &amp; 2 corresponding features as they are highly correlated.</a:t>
            </a:r>
          </a:p>
        </p:txBody>
      </p:sp>
    </p:spTree>
    <p:extLst>
      <p:ext uri="{BB962C8B-B14F-4D97-AF65-F5344CB8AC3E}">
        <p14:creationId xmlns:p14="http://schemas.microsoft.com/office/powerpoint/2010/main" val="387284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8882-B17F-9887-0F11-8C3EE9DDD979}"/>
              </a:ext>
            </a:extLst>
          </p:cNvPr>
          <p:cNvSpPr>
            <a:spLocks noGrp="1"/>
          </p:cNvSpPr>
          <p:nvPr>
            <p:ph type="title"/>
          </p:nvPr>
        </p:nvSpPr>
        <p:spPr/>
        <p:txBody>
          <a:bodyPr/>
          <a:lstStyle/>
          <a:p>
            <a:r>
              <a:rPr lang="en-US" dirty="0"/>
              <a:t>Feature Engineering - </a:t>
            </a:r>
            <a:r>
              <a:rPr lang="en-US" dirty="0" err="1"/>
              <a:t>One_hot</a:t>
            </a:r>
            <a:r>
              <a:rPr lang="en-US" dirty="0"/>
              <a:t> Encoding</a:t>
            </a:r>
          </a:p>
        </p:txBody>
      </p:sp>
      <p:sp>
        <p:nvSpPr>
          <p:cNvPr id="4" name="TextBox 3">
            <a:extLst>
              <a:ext uri="{FF2B5EF4-FFF2-40B4-BE49-F238E27FC236}">
                <a16:creationId xmlns:a16="http://schemas.microsoft.com/office/drawing/2014/main" id="{1AD7F776-543B-74D3-66B2-9CE177D8F670}"/>
              </a:ext>
            </a:extLst>
          </p:cNvPr>
          <p:cNvSpPr txBox="1"/>
          <p:nvPr/>
        </p:nvSpPr>
        <p:spPr>
          <a:xfrm>
            <a:off x="560784" y="2177078"/>
            <a:ext cx="10594895" cy="2544671"/>
          </a:xfrm>
          <a:prstGeom prst="rect">
            <a:avLst/>
          </a:prstGeom>
          <a:noFill/>
        </p:spPr>
        <p:txBody>
          <a:bodyPr wrap="square">
            <a:spAutoFit/>
          </a:bodyPr>
          <a:lstStyle/>
          <a:p>
            <a:pPr marL="457200" marR="0">
              <a:lnSpc>
                <a:spcPct val="115000"/>
              </a:lnSpc>
              <a:spcAft>
                <a:spcPts val="800"/>
              </a:spcAft>
              <a:buNone/>
            </a:pPr>
            <a:r>
              <a:rPr lang="en-US" sz="2000" kern="100" dirty="0">
                <a:effectLst/>
                <a:latin typeface="+mj-lt"/>
                <a:ea typeface="Aptos" panose="020B0004020202020204" pitchFamily="34" charset="0"/>
                <a:cs typeface="Arial" panose="020B0604020202020204" pitchFamily="34" charset="0"/>
              </a:rPr>
              <a:t>I performed one-hot encoding for non-ordinal categorical features to avoid false ordinal relationships with the target.</a:t>
            </a:r>
            <a:br>
              <a:rPr lang="en-US" sz="2000" kern="100" dirty="0">
                <a:effectLst/>
                <a:latin typeface="+mj-lt"/>
                <a:ea typeface="Aptos" panose="020B0004020202020204" pitchFamily="34" charset="0"/>
                <a:cs typeface="Arial" panose="020B0604020202020204" pitchFamily="34" charset="0"/>
              </a:rPr>
            </a:br>
            <a:r>
              <a:rPr lang="en-US" sz="2000" kern="100" dirty="0">
                <a:effectLst/>
                <a:latin typeface="+mj-lt"/>
                <a:ea typeface="Aptos" panose="020B0004020202020204" pitchFamily="34" charset="0"/>
                <a:cs typeface="Arial" panose="020B0604020202020204" pitchFamily="34" charset="0"/>
              </a:rPr>
              <a:t>But for each feature, I am ignoring categories with less than 15 occurrences, the values of which are all 0s for all of the one-hot encoded columns for the same original feature)</a:t>
            </a:r>
            <a:br>
              <a:rPr lang="en-US" sz="2000" kern="100" dirty="0">
                <a:effectLst/>
                <a:latin typeface="+mj-lt"/>
                <a:ea typeface="Aptos" panose="020B0004020202020204" pitchFamily="34" charset="0"/>
                <a:cs typeface="Arial" panose="020B0604020202020204" pitchFamily="34" charset="0"/>
              </a:rPr>
            </a:br>
            <a:r>
              <a:rPr lang="en-US" sz="2000" kern="100" dirty="0">
                <a:effectLst/>
                <a:latin typeface="+mj-lt"/>
                <a:ea typeface="Aptos" panose="020B0004020202020204" pitchFamily="34" charset="0"/>
                <a:cs typeface="Arial" panose="020B0604020202020204" pitchFamily="34" charset="0"/>
              </a:rPr>
              <a:t>The result of which can be found at `data/processed/3_preprocessed.csv` from the root directory </a:t>
            </a:r>
          </a:p>
        </p:txBody>
      </p:sp>
    </p:spTree>
    <p:extLst>
      <p:ext uri="{BB962C8B-B14F-4D97-AF65-F5344CB8AC3E}">
        <p14:creationId xmlns:p14="http://schemas.microsoft.com/office/powerpoint/2010/main" val="3142796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C61DC-F2AE-4ABD-8E70-CB6685078E2A}"/>
              </a:ext>
            </a:extLst>
          </p:cNvPr>
          <p:cNvSpPr>
            <a:spLocks noGrp="1"/>
          </p:cNvSpPr>
          <p:nvPr>
            <p:ph type="title"/>
          </p:nvPr>
        </p:nvSpPr>
        <p:spPr/>
        <p:txBody>
          <a:bodyPr/>
          <a:lstStyle/>
          <a:p>
            <a:r>
              <a:rPr lang="en-US" dirty="0"/>
              <a:t>ML Training &amp; Evaluation</a:t>
            </a:r>
          </a:p>
        </p:txBody>
      </p:sp>
      <p:sp>
        <p:nvSpPr>
          <p:cNvPr id="4" name="TextBox 3">
            <a:extLst>
              <a:ext uri="{FF2B5EF4-FFF2-40B4-BE49-F238E27FC236}">
                <a16:creationId xmlns:a16="http://schemas.microsoft.com/office/drawing/2014/main" id="{91E14E9E-4589-1B6F-629A-00BFDF01ABFF}"/>
              </a:ext>
            </a:extLst>
          </p:cNvPr>
          <p:cNvSpPr txBox="1"/>
          <p:nvPr/>
        </p:nvSpPr>
        <p:spPr>
          <a:xfrm>
            <a:off x="1097280" y="2136339"/>
            <a:ext cx="5660708" cy="2308324"/>
          </a:xfrm>
          <a:prstGeom prst="rect">
            <a:avLst/>
          </a:prstGeom>
          <a:noFill/>
        </p:spPr>
        <p:txBody>
          <a:bodyPr wrap="square">
            <a:spAutoFit/>
          </a:bodyPr>
          <a:lstStyle/>
          <a:p>
            <a:r>
              <a:rPr lang="en-US" dirty="0"/>
              <a:t>I’ve used the Decision Tree and Logistic Regression models to predict the dropout binary (0 didn’t drop out, and 1 dropped out) Kept aside a testing set which consists of 15% of the dataset without training anything on it, so that I can ultimately evaluate the model's accuracy based on it On the remaining 85% of data, I used 5-fold crossover, which trained and validated the dataset across 5 different splits.</a:t>
            </a:r>
          </a:p>
        </p:txBody>
      </p:sp>
      <p:sp>
        <p:nvSpPr>
          <p:cNvPr id="6" name="TextBox 5">
            <a:extLst>
              <a:ext uri="{FF2B5EF4-FFF2-40B4-BE49-F238E27FC236}">
                <a16:creationId xmlns:a16="http://schemas.microsoft.com/office/drawing/2014/main" id="{35896FDA-7E37-619A-0ACA-0F525B6B2F39}"/>
              </a:ext>
            </a:extLst>
          </p:cNvPr>
          <p:cNvSpPr txBox="1"/>
          <p:nvPr/>
        </p:nvSpPr>
        <p:spPr>
          <a:xfrm>
            <a:off x="6986588" y="2429857"/>
            <a:ext cx="4972050" cy="2031325"/>
          </a:xfrm>
          <a:prstGeom prst="rect">
            <a:avLst/>
          </a:prstGeom>
          <a:noFill/>
        </p:spPr>
        <p:txBody>
          <a:bodyPr wrap="square">
            <a:spAutoFit/>
          </a:bodyPr>
          <a:lstStyle/>
          <a:p>
            <a:r>
              <a:rPr lang="en-US" dirty="0"/>
              <a:t>Decision Tree Cross-Validation Scores (5 folds): ['0.77', '0.79', '0.79', '0.79', '0.80'] Mean CV Score: 0.79 Decision Tree accuracy score: 0.77 Logistic Regression Cross-Validation Scores (5 folds): ['0.85', '0.85', '0.86', '0.85', '0.85'] Mean CV Score: 0.85 Logistic Regression accuracy score: 0.84</a:t>
            </a:r>
          </a:p>
        </p:txBody>
      </p:sp>
      <p:sp>
        <p:nvSpPr>
          <p:cNvPr id="8" name="TextBox 7">
            <a:extLst>
              <a:ext uri="{FF2B5EF4-FFF2-40B4-BE49-F238E27FC236}">
                <a16:creationId xmlns:a16="http://schemas.microsoft.com/office/drawing/2014/main" id="{D5EDE56F-3AEE-4C5F-71F5-0BC3E3CE0BA7}"/>
              </a:ext>
            </a:extLst>
          </p:cNvPr>
          <p:cNvSpPr txBox="1"/>
          <p:nvPr/>
        </p:nvSpPr>
        <p:spPr>
          <a:xfrm>
            <a:off x="6986588" y="2060525"/>
            <a:ext cx="6093618" cy="369332"/>
          </a:xfrm>
          <a:prstGeom prst="rect">
            <a:avLst/>
          </a:prstGeom>
          <a:noFill/>
        </p:spPr>
        <p:txBody>
          <a:bodyPr wrap="square">
            <a:spAutoFit/>
          </a:bodyPr>
          <a:lstStyle/>
          <a:p>
            <a:r>
              <a:rPr lang="en-US" b="1" dirty="0"/>
              <a:t>The output result of the modelling is as follows: </a:t>
            </a:r>
          </a:p>
        </p:txBody>
      </p:sp>
      <p:sp>
        <p:nvSpPr>
          <p:cNvPr id="10" name="TextBox 9">
            <a:extLst>
              <a:ext uri="{FF2B5EF4-FFF2-40B4-BE49-F238E27FC236}">
                <a16:creationId xmlns:a16="http://schemas.microsoft.com/office/drawing/2014/main" id="{1A38CA2F-44B1-CDBC-2531-B7A2E2A3F150}"/>
              </a:ext>
            </a:extLst>
          </p:cNvPr>
          <p:cNvSpPr txBox="1"/>
          <p:nvPr/>
        </p:nvSpPr>
        <p:spPr>
          <a:xfrm>
            <a:off x="1097280" y="4461182"/>
            <a:ext cx="10462022" cy="1754326"/>
          </a:xfrm>
          <a:prstGeom prst="rect">
            <a:avLst/>
          </a:prstGeom>
          <a:noFill/>
        </p:spPr>
        <p:txBody>
          <a:bodyPr wrap="square">
            <a:spAutoFit/>
          </a:bodyPr>
          <a:lstStyle/>
          <a:p>
            <a:r>
              <a:rPr lang="en-US" b="1" dirty="0"/>
              <a:t>Interpretation of the output: </a:t>
            </a:r>
            <a:r>
              <a:rPr lang="en-US" dirty="0"/>
              <a:t>Both models had consistent cross-validation results across all of the splits. As for the testing set evaluation, Logistic Regression has been more effective at predicting the dropout potential of the students using the accuracy score evaluation method (which takes the correct predictions and divides them by the total predictions made). We can say that 84% of the time, the Logistic Regression model could predict whether a student would drop out or not at the end of the normal duration of the course he/she has enrolled in.</a:t>
            </a:r>
          </a:p>
        </p:txBody>
      </p:sp>
    </p:spTree>
    <p:extLst>
      <p:ext uri="{BB962C8B-B14F-4D97-AF65-F5344CB8AC3E}">
        <p14:creationId xmlns:p14="http://schemas.microsoft.com/office/powerpoint/2010/main" val="3659219912"/>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{41782C6F-C22F-441C-846F-ED937DF295E7}TFf0a5ceae-4542-492d-822e-d65a94fb0e1e3b562c5a_win32-009a0557e699</Template>
  <TotalTime>382</TotalTime>
  <Words>721</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Bookman Old Style</vt:lpstr>
      <vt:lpstr>Calibri</vt:lpstr>
      <vt:lpstr>Franklin Gothic Book</vt:lpstr>
      <vt:lpstr>Custom</vt:lpstr>
      <vt:lpstr>Academic Performance Analysis and Early Prediction of Student Dropout</vt:lpstr>
      <vt:lpstr>This project aims to understand and analyze students’ personal data that has been collected about them at the time of their enrollment in various courses in a Portuguese University, as well as their first and second semester information, which is present in the dataset.   Additionally, since the dataset also contains a student status (graduate, enrolled, and dropout) at the end of the normal duration of the course, enrolled means still studying at that time, so we could make a predictive model that predicts whether a student is going to drop out or not while he/she is still an undergraduate.</vt:lpstr>
      <vt:lpstr>Project Phases</vt:lpstr>
      <vt:lpstr>Data Cleaning: Preparing the Dataset</vt:lpstr>
      <vt:lpstr>Feature Engineering - Feature Selection – Categorical</vt:lpstr>
      <vt:lpstr>Feature Engineering - Feature Selection – Numerical</vt:lpstr>
      <vt:lpstr>Feature Engineering - Feature Reduction</vt:lpstr>
      <vt:lpstr>Feature Engineering - One_hot Encoding</vt:lpstr>
      <vt:lpstr>ML Training &amp; Evaluation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Amer Zakaria</dc:creator>
  <cp:lastModifiedBy>Amer Zakaria</cp:lastModifiedBy>
  <cp:revision>3</cp:revision>
  <dcterms:created xsi:type="dcterms:W3CDTF">2026-05-04T07:21:03Z</dcterms:created>
  <dcterms:modified xsi:type="dcterms:W3CDTF">2026-05-04T15:27:31Z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